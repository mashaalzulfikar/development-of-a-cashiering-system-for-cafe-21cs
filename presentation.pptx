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57" r:id="rId3"/>
    <p:sldId id="258" r:id="rId4"/>
    <p:sldId id="259" r:id="rId5"/>
    <p:sldId id="260" r:id="rId6"/>
    <p:sldId id="261" r:id="rId7"/>
    <p:sldId id="262" r:id="rId8"/>
    <p:sldId id="264" r:id="rId9"/>
    <p:sldId id="266" r:id="rId10"/>
    <p:sldId id="267"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9" d="100"/>
          <a:sy n="69" d="100"/>
        </p:scale>
        <p:origin x="56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E3FC6AF8-5260-4146-A168-4B2A546D0000}" type="datetimeFigureOut">
              <a:rPr lang="en-US" smtClean="0"/>
              <a:t>11/5/2024</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34A3F0A-7F56-4116-8B85-58AF36208572}"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18685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3FC6AF8-5260-4146-A168-4B2A546D0000}" type="datetimeFigureOut">
              <a:rPr lang="en-US" smtClean="0"/>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4A3F0A-7F56-4116-8B85-58AF36208572}" type="slidenum">
              <a:rPr lang="en-US" smtClean="0"/>
              <a:t>‹#›</a:t>
            </a:fld>
            <a:endParaRPr lang="en-US"/>
          </a:p>
        </p:txBody>
      </p:sp>
    </p:spTree>
    <p:extLst>
      <p:ext uri="{BB962C8B-B14F-4D97-AF65-F5344CB8AC3E}">
        <p14:creationId xmlns:p14="http://schemas.microsoft.com/office/powerpoint/2010/main" val="702355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3FC6AF8-5260-4146-A168-4B2A546D0000}" type="datetimeFigureOut">
              <a:rPr lang="en-US" smtClean="0"/>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4A3F0A-7F56-4116-8B85-58AF36208572}"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63392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3FC6AF8-5260-4146-A168-4B2A546D0000}" type="datetimeFigureOut">
              <a:rPr lang="en-US" smtClean="0"/>
              <a:t>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4A3F0A-7F56-4116-8B85-58AF36208572}" type="slidenum">
              <a:rPr lang="en-US" smtClean="0"/>
              <a:t>‹#›</a:t>
            </a:fld>
            <a:endParaRPr lang="en-US"/>
          </a:p>
        </p:txBody>
      </p:sp>
    </p:spTree>
    <p:extLst>
      <p:ext uri="{BB962C8B-B14F-4D97-AF65-F5344CB8AC3E}">
        <p14:creationId xmlns:p14="http://schemas.microsoft.com/office/powerpoint/2010/main" val="875149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3FC6AF8-5260-4146-A168-4B2A546D0000}" type="datetimeFigureOut">
              <a:rPr lang="en-US" smtClean="0"/>
              <a:t>11/5/2024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34A3F0A-7F56-4116-8B85-58AF36208572}"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83311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3FC6AF8-5260-4146-A168-4B2A546D0000}" type="datetimeFigureOut">
              <a:rPr lang="en-US" smtClean="0"/>
              <a:t>11/5/2024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34A3F0A-7F56-4116-8B85-58AF36208572}"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00920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FC6AF8-5260-4146-A168-4B2A546D0000}" type="datetimeFigureOut">
              <a:rPr lang="en-US" smtClean="0"/>
              <a:t>11/5/2024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34A3F0A-7F56-4116-8B85-58AF36208572}" type="slidenum">
              <a:rPr lang="en-US" smtClean="0"/>
              <a:t>‹#›</a:t>
            </a:fld>
            <a:endParaRPr lang="en-US"/>
          </a:p>
        </p:txBody>
      </p:sp>
    </p:spTree>
    <p:extLst>
      <p:ext uri="{BB962C8B-B14F-4D97-AF65-F5344CB8AC3E}">
        <p14:creationId xmlns:p14="http://schemas.microsoft.com/office/powerpoint/2010/main" val="1109898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E3FC6AF8-5260-4146-A168-4B2A546D0000}" type="datetimeFigureOut">
              <a:rPr lang="en-US" smtClean="0"/>
              <a:t>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4A3F0A-7F56-4116-8B85-58AF36208572}"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7945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E3FC6AF8-5260-4146-A168-4B2A546D0000}" type="datetimeFigureOut">
              <a:rPr lang="en-US" smtClean="0"/>
              <a:t>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4A3F0A-7F56-4116-8B85-58AF36208572}" type="slidenum">
              <a:rPr lang="en-US" smtClean="0"/>
              <a:t>‹#›</a:t>
            </a:fld>
            <a:endParaRPr lang="en-US"/>
          </a:p>
        </p:txBody>
      </p:sp>
    </p:spTree>
    <p:extLst>
      <p:ext uri="{BB962C8B-B14F-4D97-AF65-F5344CB8AC3E}">
        <p14:creationId xmlns:p14="http://schemas.microsoft.com/office/powerpoint/2010/main" val="1421445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E3FC6AF8-5260-4146-A168-4B2A546D0000}" type="datetimeFigureOut">
              <a:rPr lang="en-US" smtClean="0"/>
              <a:t>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4A3F0A-7F56-4116-8B85-58AF36208572}" type="slidenum">
              <a:rPr lang="en-US" smtClean="0"/>
              <a:t>‹#›</a:t>
            </a:fld>
            <a:endParaRPr lang="en-US"/>
          </a:p>
        </p:txBody>
      </p:sp>
    </p:spTree>
    <p:extLst>
      <p:ext uri="{BB962C8B-B14F-4D97-AF65-F5344CB8AC3E}">
        <p14:creationId xmlns:p14="http://schemas.microsoft.com/office/powerpoint/2010/main" val="334072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3FC6AF8-5260-4146-A168-4B2A546D0000}" type="datetimeFigureOut">
              <a:rPr lang="en-US" smtClean="0"/>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4A3F0A-7F56-4116-8B85-58AF36208572}"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145589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3FC6AF8-5260-4146-A168-4B2A546D0000}" type="datetimeFigureOut">
              <a:rPr lang="en-US" smtClean="0"/>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4A3F0A-7F56-4116-8B85-58AF36208572}"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559966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3FC6AF8-5260-4146-A168-4B2A546D0000}" type="datetimeFigureOut">
              <a:rPr lang="en-US" smtClean="0"/>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4A3F0A-7F56-4116-8B85-58AF36208572}" type="slidenum">
              <a:rPr lang="en-US" smtClean="0"/>
              <a:t>‹#›</a:t>
            </a:fld>
            <a:endParaRPr lang="en-US"/>
          </a:p>
        </p:txBody>
      </p:sp>
    </p:spTree>
    <p:extLst>
      <p:ext uri="{BB962C8B-B14F-4D97-AF65-F5344CB8AC3E}">
        <p14:creationId xmlns:p14="http://schemas.microsoft.com/office/powerpoint/2010/main" val="27585463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3FC6AF8-5260-4146-A168-4B2A546D0000}" type="datetimeFigureOut">
              <a:rPr lang="en-US" smtClean="0"/>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4A3F0A-7F56-4116-8B85-58AF36208572}"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641642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3FC6AF8-5260-4146-A168-4B2A546D0000}" type="datetimeFigureOut">
              <a:rPr lang="en-US" smtClean="0"/>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4A3F0A-7F56-4116-8B85-58AF36208572}"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015317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3FC6AF8-5260-4146-A168-4B2A546D0000}" type="datetimeFigureOut">
              <a:rPr lang="en-US" smtClean="0"/>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4A3F0A-7F56-4116-8B85-58AF36208572}"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879214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3FC6AF8-5260-4146-A168-4B2A546D0000}" type="datetimeFigureOut">
              <a:rPr lang="en-US" smtClean="0"/>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4A3F0A-7F56-4116-8B85-58AF36208572}"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7534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3FC6AF8-5260-4146-A168-4B2A546D0000}" type="datetimeFigureOut">
              <a:rPr lang="en-US" smtClean="0"/>
              <a:t>11/5/2024</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34A3F0A-7F56-4116-8B85-58AF36208572}" type="slidenum">
              <a:rPr lang="en-US" smtClean="0"/>
              <a:t>‹#›</a:t>
            </a:fld>
            <a:endParaRPr lang="en-US"/>
          </a:p>
        </p:txBody>
      </p:sp>
    </p:spTree>
    <p:extLst>
      <p:ext uri="{BB962C8B-B14F-4D97-AF65-F5344CB8AC3E}">
        <p14:creationId xmlns:p14="http://schemas.microsoft.com/office/powerpoint/2010/main" val="1592587698"/>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400" dirty="0" smtClean="0"/>
              <a:t>Café 21CS Cashiering System </a:t>
            </a:r>
            <a:endParaRPr lang="en-US" sz="4400" dirty="0"/>
          </a:p>
        </p:txBody>
      </p:sp>
      <p:sp>
        <p:nvSpPr>
          <p:cNvPr id="3" name="Subtitle 2"/>
          <p:cNvSpPr>
            <a:spLocks noGrp="1"/>
          </p:cNvSpPr>
          <p:nvPr>
            <p:ph type="subTitle" idx="1"/>
          </p:nvPr>
        </p:nvSpPr>
        <p:spPr/>
        <p:txBody>
          <a:bodyPr>
            <a:normAutofit fontScale="92500" lnSpcReduction="10000"/>
          </a:bodyPr>
          <a:lstStyle/>
          <a:p>
            <a:r>
              <a:rPr lang="en-US" u="sng" dirty="0" smtClean="0"/>
              <a:t>A presentation by:</a:t>
            </a:r>
          </a:p>
          <a:p>
            <a:r>
              <a:rPr lang="en-US" dirty="0" err="1" smtClean="0"/>
              <a:t>Adeel</a:t>
            </a:r>
            <a:r>
              <a:rPr lang="en-US" dirty="0" smtClean="0"/>
              <a:t> Shah: 21CS041</a:t>
            </a:r>
            <a:br>
              <a:rPr lang="en-US" dirty="0" smtClean="0"/>
            </a:br>
            <a:r>
              <a:rPr lang="en-US" dirty="0" smtClean="0"/>
              <a:t>Muhammad Sameer: 21CS077</a:t>
            </a:r>
            <a:r>
              <a:rPr lang="en-US" dirty="0"/>
              <a:t/>
            </a:r>
            <a:br>
              <a:rPr lang="en-US" dirty="0"/>
            </a:br>
            <a:r>
              <a:rPr lang="en-US" dirty="0" err="1" smtClean="0"/>
              <a:t>Mashaal</a:t>
            </a:r>
            <a:r>
              <a:rPr lang="en-US" dirty="0" smtClean="0"/>
              <a:t> </a:t>
            </a:r>
            <a:r>
              <a:rPr lang="en-US" dirty="0" err="1" smtClean="0"/>
              <a:t>Zulfikar</a:t>
            </a:r>
            <a:r>
              <a:rPr lang="en-US" dirty="0" smtClean="0"/>
              <a:t>: 21CS105</a:t>
            </a:r>
          </a:p>
        </p:txBody>
      </p:sp>
    </p:spTree>
    <p:extLst>
      <p:ext uri="{BB962C8B-B14F-4D97-AF65-F5344CB8AC3E}">
        <p14:creationId xmlns:p14="http://schemas.microsoft.com/office/powerpoint/2010/main" val="153866441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a:xfrm>
            <a:off x="704274" y="2575403"/>
            <a:ext cx="3627581" cy="3318936"/>
          </a:xfrm>
        </p:spPr>
        <p:txBody>
          <a:bodyPr/>
          <a:lstStyle/>
          <a:p>
            <a:pPr marL="0" indent="0" algn="ctr">
              <a:buNone/>
            </a:pPr>
            <a:r>
              <a:rPr lang="en-US" b="1" u="sng" dirty="0" smtClean="0"/>
              <a:t>Overview</a:t>
            </a:r>
          </a:p>
          <a:p>
            <a:pPr marL="0" indent="0" algn="ctr">
              <a:buNone/>
            </a:pPr>
            <a:endParaRPr lang="en-US" b="1" u="sng" dirty="0" smtClean="0"/>
          </a:p>
          <a:p>
            <a:pPr marL="0" indent="0" algn="ctr">
              <a:buNone/>
            </a:pPr>
            <a:r>
              <a:rPr lang="en-US" dirty="0"/>
              <a:t>Cafe 21CS Cashiering </a:t>
            </a:r>
            <a:r>
              <a:rPr lang="en-US" dirty="0" smtClean="0"/>
              <a:t>System</a:t>
            </a:r>
          </a:p>
          <a:p>
            <a:pPr marL="0" indent="0" algn="ctr">
              <a:buNone/>
            </a:pPr>
            <a:r>
              <a:rPr lang="en-US" dirty="0" smtClean="0"/>
              <a:t>a </a:t>
            </a:r>
            <a:r>
              <a:rPr lang="en-US" dirty="0"/>
              <a:t>web-based application.</a:t>
            </a:r>
            <a:endParaRPr lang="en-US" b="1" u="sng" dirty="0"/>
          </a:p>
        </p:txBody>
      </p:sp>
      <p:pic>
        <p:nvPicPr>
          <p:cNvPr id="4" name="Picture 3"/>
          <p:cNvPicPr>
            <a:picLocks noChangeAspect="1"/>
          </p:cNvPicPr>
          <p:nvPr/>
        </p:nvPicPr>
        <p:blipFill>
          <a:blip r:embed="rId2"/>
          <a:stretch>
            <a:fillRect/>
          </a:stretch>
        </p:blipFill>
        <p:spPr>
          <a:xfrm rot="5400000" flipV="1">
            <a:off x="2536903" y="4195658"/>
            <a:ext cx="3318936" cy="78425"/>
          </a:xfrm>
          <a:prstGeom prst="rect">
            <a:avLst/>
          </a:prstGeom>
        </p:spPr>
      </p:pic>
      <p:sp>
        <p:nvSpPr>
          <p:cNvPr id="5" name="Content Placeholder 2"/>
          <p:cNvSpPr txBox="1">
            <a:spLocks/>
          </p:cNvSpPr>
          <p:nvPr/>
        </p:nvSpPr>
        <p:spPr>
          <a:xfrm>
            <a:off x="4265627" y="2575402"/>
            <a:ext cx="3627581" cy="3318936"/>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lgn="ctr">
              <a:buFont typeface="Arial"/>
              <a:buNone/>
            </a:pPr>
            <a:r>
              <a:rPr lang="en-US" b="1" u="sng" dirty="0" smtClean="0"/>
              <a:t>Purpose</a:t>
            </a:r>
          </a:p>
          <a:p>
            <a:pPr marL="0" indent="0" algn="ctr">
              <a:buFont typeface="Arial"/>
              <a:buNone/>
            </a:pPr>
            <a:endParaRPr lang="en-US" b="1" u="sng" dirty="0" smtClean="0"/>
          </a:p>
          <a:p>
            <a:pPr marL="0" indent="0" algn="ctr">
              <a:buNone/>
            </a:pPr>
            <a:r>
              <a:rPr lang="en-US" dirty="0"/>
              <a:t>Streamlines daily sales transactions and enhances operational efficiency.</a:t>
            </a:r>
            <a:endParaRPr lang="en-US" b="1" u="sng" dirty="0"/>
          </a:p>
        </p:txBody>
      </p:sp>
      <p:pic>
        <p:nvPicPr>
          <p:cNvPr id="6" name="Picture 5"/>
          <p:cNvPicPr>
            <a:picLocks noChangeAspect="1"/>
          </p:cNvPicPr>
          <p:nvPr/>
        </p:nvPicPr>
        <p:blipFill>
          <a:blip r:embed="rId2"/>
          <a:stretch>
            <a:fillRect/>
          </a:stretch>
        </p:blipFill>
        <p:spPr>
          <a:xfrm rot="5400000" flipV="1">
            <a:off x="6272953" y="4195658"/>
            <a:ext cx="3318936" cy="78425"/>
          </a:xfrm>
          <a:prstGeom prst="rect">
            <a:avLst/>
          </a:prstGeom>
        </p:spPr>
      </p:pic>
      <p:sp>
        <p:nvSpPr>
          <p:cNvPr id="7" name="Content Placeholder 2"/>
          <p:cNvSpPr txBox="1">
            <a:spLocks/>
          </p:cNvSpPr>
          <p:nvPr/>
        </p:nvSpPr>
        <p:spPr>
          <a:xfrm>
            <a:off x="7893208" y="2555385"/>
            <a:ext cx="3627581" cy="3318936"/>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lgn="ctr">
              <a:buFont typeface="Arial"/>
              <a:buNone/>
            </a:pPr>
            <a:r>
              <a:rPr lang="en-US" b="1" u="sng" dirty="0" smtClean="0"/>
              <a:t>Technology</a:t>
            </a:r>
          </a:p>
          <a:p>
            <a:pPr marL="0" indent="0" algn="ctr">
              <a:buFont typeface="Arial"/>
              <a:buNone/>
            </a:pPr>
            <a:endParaRPr lang="en-US" b="1" u="sng" dirty="0" smtClean="0"/>
          </a:p>
          <a:p>
            <a:pPr marL="0" indent="0" algn="ctr">
              <a:buNone/>
            </a:pPr>
            <a:r>
              <a:rPr lang="en-US" dirty="0" smtClean="0"/>
              <a:t>PHP </a:t>
            </a:r>
            <a:r>
              <a:rPr lang="en-US" dirty="0"/>
              <a:t>(backend</a:t>
            </a:r>
            <a:r>
              <a:rPr lang="en-US" dirty="0" smtClean="0"/>
              <a:t>),</a:t>
            </a:r>
            <a:br>
              <a:rPr lang="en-US" dirty="0" smtClean="0"/>
            </a:br>
            <a:r>
              <a:rPr lang="en-US" dirty="0" smtClean="0"/>
              <a:t>MySQL </a:t>
            </a:r>
            <a:r>
              <a:rPr lang="en-US" dirty="0"/>
              <a:t>(database), </a:t>
            </a:r>
            <a:br>
              <a:rPr lang="en-US" dirty="0"/>
            </a:br>
            <a:r>
              <a:rPr lang="en-US" dirty="0" smtClean="0"/>
              <a:t>HTML</a:t>
            </a:r>
            <a:r>
              <a:rPr lang="en-US" dirty="0"/>
              <a:t>, CSS, JS, Bootstrap (frontend).</a:t>
            </a:r>
          </a:p>
          <a:p>
            <a:pPr marL="0" indent="0" algn="ctr">
              <a:buNone/>
            </a:pPr>
            <a:endParaRPr lang="en-US" b="1" u="sng" dirty="0"/>
          </a:p>
        </p:txBody>
      </p:sp>
    </p:spTree>
    <p:extLst>
      <p:ext uri="{BB962C8B-B14F-4D97-AF65-F5344CB8AC3E}">
        <p14:creationId xmlns:p14="http://schemas.microsoft.com/office/powerpoint/2010/main" val="1908470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Statement</a:t>
            </a:r>
            <a:endParaRPr lang="en-US" dirty="0"/>
          </a:p>
        </p:txBody>
      </p:sp>
      <p:sp>
        <p:nvSpPr>
          <p:cNvPr id="4" name="Content Placeholder 2"/>
          <p:cNvSpPr>
            <a:spLocks noGrp="1"/>
          </p:cNvSpPr>
          <p:nvPr>
            <p:ph idx="1"/>
          </p:nvPr>
        </p:nvSpPr>
        <p:spPr>
          <a:xfrm>
            <a:off x="2098965" y="2547694"/>
            <a:ext cx="3627581" cy="3318936"/>
          </a:xfrm>
        </p:spPr>
        <p:txBody>
          <a:bodyPr/>
          <a:lstStyle/>
          <a:p>
            <a:pPr marL="0" indent="0" algn="ctr">
              <a:buNone/>
            </a:pPr>
            <a:r>
              <a:rPr lang="en-US" b="1" u="sng" dirty="0"/>
              <a:t>Challenges in Manual </a:t>
            </a:r>
            <a:r>
              <a:rPr lang="en-US" b="1" u="sng" dirty="0" smtClean="0"/>
              <a:t>Transactions</a:t>
            </a:r>
          </a:p>
          <a:p>
            <a:pPr algn="ctr"/>
            <a:r>
              <a:rPr lang="en-US" dirty="0" smtClean="0"/>
              <a:t>Errors</a:t>
            </a:r>
          </a:p>
          <a:p>
            <a:pPr algn="ctr"/>
            <a:r>
              <a:rPr lang="en-US" dirty="0" smtClean="0"/>
              <a:t>Inefficient</a:t>
            </a:r>
          </a:p>
          <a:p>
            <a:pPr algn="ctr"/>
            <a:r>
              <a:rPr lang="en-US" dirty="0" smtClean="0"/>
              <a:t>Delays in fast-paced environments</a:t>
            </a:r>
          </a:p>
        </p:txBody>
      </p:sp>
      <p:pic>
        <p:nvPicPr>
          <p:cNvPr id="7" name="Picture 6"/>
          <p:cNvPicPr>
            <a:picLocks noChangeAspect="1"/>
          </p:cNvPicPr>
          <p:nvPr/>
        </p:nvPicPr>
        <p:blipFill>
          <a:blip r:embed="rId2"/>
          <a:stretch>
            <a:fillRect/>
          </a:stretch>
        </p:blipFill>
        <p:spPr>
          <a:xfrm rot="5400000" flipV="1">
            <a:off x="4475745" y="4167950"/>
            <a:ext cx="3318936" cy="78425"/>
          </a:xfrm>
          <a:prstGeom prst="rect">
            <a:avLst/>
          </a:prstGeom>
        </p:spPr>
      </p:pic>
      <p:sp>
        <p:nvSpPr>
          <p:cNvPr id="8" name="Content Placeholder 2"/>
          <p:cNvSpPr txBox="1">
            <a:spLocks/>
          </p:cNvSpPr>
          <p:nvPr/>
        </p:nvSpPr>
        <p:spPr>
          <a:xfrm>
            <a:off x="6543880" y="2616967"/>
            <a:ext cx="3627581" cy="3318936"/>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lgn="ctr">
              <a:buFont typeface="Arial"/>
              <a:buNone/>
            </a:pPr>
            <a:r>
              <a:rPr lang="en-US" b="1" u="sng" dirty="0" smtClean="0"/>
              <a:t>Solution Goal</a:t>
            </a:r>
            <a:br>
              <a:rPr lang="en-US" b="1" u="sng" dirty="0" smtClean="0"/>
            </a:br>
            <a:r>
              <a:rPr lang="en-US" dirty="0" smtClean="0"/>
              <a:t>A Cashiering System that’s:</a:t>
            </a:r>
          </a:p>
          <a:p>
            <a:pPr algn="ctr"/>
            <a:r>
              <a:rPr lang="en-US" dirty="0" smtClean="0"/>
              <a:t>Automated</a:t>
            </a:r>
          </a:p>
          <a:p>
            <a:pPr algn="ctr"/>
            <a:r>
              <a:rPr lang="en-US" dirty="0" smtClean="0"/>
              <a:t>User-Friendly</a:t>
            </a:r>
          </a:p>
          <a:p>
            <a:pPr algn="ctr"/>
            <a:r>
              <a:rPr lang="en-US" dirty="0" smtClean="0"/>
              <a:t>Provides Accuracy &amp; Ease of Use</a:t>
            </a:r>
            <a:endParaRPr lang="en-US" dirty="0" smtClean="0"/>
          </a:p>
        </p:txBody>
      </p:sp>
    </p:spTree>
    <p:extLst>
      <p:ext uri="{BB962C8B-B14F-4D97-AF65-F5344CB8AC3E}">
        <p14:creationId xmlns:p14="http://schemas.microsoft.com/office/powerpoint/2010/main" val="23937824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Objectives</a:t>
            </a:r>
            <a:endParaRPr lang="en-US" dirty="0"/>
          </a:p>
        </p:txBody>
      </p:sp>
      <p:sp>
        <p:nvSpPr>
          <p:cNvPr id="4" name="Content Placeholder 2"/>
          <p:cNvSpPr>
            <a:spLocks noGrp="1"/>
          </p:cNvSpPr>
          <p:nvPr>
            <p:ph idx="1"/>
          </p:nvPr>
        </p:nvSpPr>
        <p:spPr>
          <a:xfrm>
            <a:off x="2468419" y="2556930"/>
            <a:ext cx="3627581" cy="3318936"/>
          </a:xfrm>
        </p:spPr>
        <p:txBody>
          <a:bodyPr/>
          <a:lstStyle/>
          <a:p>
            <a:pPr marL="0" indent="0" algn="ctr">
              <a:buNone/>
            </a:pPr>
            <a:r>
              <a:rPr lang="en-US" b="1" u="sng" dirty="0" smtClean="0"/>
              <a:t>Key Goals</a:t>
            </a:r>
          </a:p>
          <a:p>
            <a:pPr algn="ctr"/>
            <a:r>
              <a:rPr lang="en-US" dirty="0" smtClean="0"/>
              <a:t>Efficient Recording and Management of Sales</a:t>
            </a:r>
          </a:p>
          <a:p>
            <a:pPr algn="ctr"/>
            <a:r>
              <a:rPr lang="en-US" dirty="0" smtClean="0"/>
              <a:t>Role based access for secure data handling</a:t>
            </a:r>
          </a:p>
        </p:txBody>
      </p:sp>
      <p:sp>
        <p:nvSpPr>
          <p:cNvPr id="5" name="Content Placeholder 2"/>
          <p:cNvSpPr txBox="1">
            <a:spLocks/>
          </p:cNvSpPr>
          <p:nvPr/>
        </p:nvSpPr>
        <p:spPr>
          <a:xfrm>
            <a:off x="6330372" y="2555387"/>
            <a:ext cx="3746501" cy="3318936"/>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lgn="ctr">
              <a:buFont typeface="Arial"/>
              <a:buNone/>
            </a:pPr>
            <a:r>
              <a:rPr lang="en-US" b="1" u="sng" dirty="0" smtClean="0"/>
              <a:t> </a:t>
            </a:r>
          </a:p>
          <a:p>
            <a:pPr algn="ctr"/>
            <a:r>
              <a:rPr lang="en-US" dirty="0"/>
              <a:t>User-friendly interface with Bootstrap </a:t>
            </a:r>
            <a:r>
              <a:rPr lang="en-US" dirty="0" smtClean="0"/>
              <a:t>&amp; </a:t>
            </a:r>
            <a:r>
              <a:rPr lang="en-US" dirty="0" err="1" smtClean="0"/>
              <a:t>AdminLTE</a:t>
            </a:r>
            <a:endParaRPr lang="en-US" dirty="0" smtClean="0"/>
          </a:p>
          <a:p>
            <a:pPr algn="ctr"/>
            <a:r>
              <a:rPr lang="en-US" dirty="0"/>
              <a:t>Daily sales reports and printable </a:t>
            </a:r>
            <a:r>
              <a:rPr lang="en-US" dirty="0" smtClean="0"/>
              <a:t>receipts</a:t>
            </a:r>
            <a:endParaRPr lang="en-US" dirty="0" smtClean="0"/>
          </a:p>
        </p:txBody>
      </p:sp>
      <p:pic>
        <p:nvPicPr>
          <p:cNvPr id="6" name="Picture 5"/>
          <p:cNvPicPr>
            <a:picLocks noChangeAspect="1"/>
          </p:cNvPicPr>
          <p:nvPr/>
        </p:nvPicPr>
        <p:blipFill>
          <a:blip r:embed="rId2"/>
          <a:stretch>
            <a:fillRect/>
          </a:stretch>
        </p:blipFill>
        <p:spPr>
          <a:xfrm rot="5400000" flipV="1">
            <a:off x="4475745" y="4167950"/>
            <a:ext cx="3318936" cy="78425"/>
          </a:xfrm>
          <a:prstGeom prst="rect">
            <a:avLst/>
          </a:prstGeom>
        </p:spPr>
      </p:pic>
    </p:spTree>
    <p:extLst>
      <p:ext uri="{BB962C8B-B14F-4D97-AF65-F5344CB8AC3E}">
        <p14:creationId xmlns:p14="http://schemas.microsoft.com/office/powerpoint/2010/main" val="40081701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Tools &amp; Languages Used</a:t>
            </a:r>
            <a:endParaRPr lang="en-US" dirty="0"/>
          </a:p>
        </p:txBody>
      </p:sp>
      <p:sp>
        <p:nvSpPr>
          <p:cNvPr id="4" name="Content Placeholder 2"/>
          <p:cNvSpPr>
            <a:spLocks noGrp="1"/>
          </p:cNvSpPr>
          <p:nvPr>
            <p:ph idx="1"/>
          </p:nvPr>
        </p:nvSpPr>
        <p:spPr>
          <a:xfrm>
            <a:off x="842820" y="2556930"/>
            <a:ext cx="3627581" cy="3318936"/>
          </a:xfrm>
        </p:spPr>
        <p:txBody>
          <a:bodyPr/>
          <a:lstStyle/>
          <a:p>
            <a:pPr marL="0" indent="0" algn="ctr">
              <a:buNone/>
            </a:pPr>
            <a:r>
              <a:rPr lang="en-US" b="1" u="sng" dirty="0" smtClean="0"/>
              <a:t>Backend</a:t>
            </a:r>
            <a:endParaRPr lang="en-US" b="1" u="sng" dirty="0"/>
          </a:p>
          <a:p>
            <a:pPr marL="0" indent="0" algn="ctr">
              <a:buNone/>
            </a:pPr>
            <a:endParaRPr lang="en-US" b="1" u="sng" dirty="0" smtClean="0"/>
          </a:p>
          <a:p>
            <a:pPr marL="0" indent="0" algn="ctr">
              <a:buNone/>
            </a:pPr>
            <a:r>
              <a:rPr lang="en-US" b="1" u="sng" dirty="0"/>
              <a:t/>
            </a:r>
            <a:br>
              <a:rPr lang="en-US" b="1" u="sng" dirty="0"/>
            </a:br>
            <a:r>
              <a:rPr lang="en-US" dirty="0"/>
              <a:t>PHP for server-side logic.</a:t>
            </a:r>
            <a:endParaRPr lang="en-US" b="1" u="sng" dirty="0" smtClean="0"/>
          </a:p>
        </p:txBody>
      </p:sp>
      <p:pic>
        <p:nvPicPr>
          <p:cNvPr id="5" name="Picture 4"/>
          <p:cNvPicPr>
            <a:picLocks noChangeAspect="1"/>
          </p:cNvPicPr>
          <p:nvPr/>
        </p:nvPicPr>
        <p:blipFill>
          <a:blip r:embed="rId2"/>
          <a:stretch>
            <a:fillRect/>
          </a:stretch>
        </p:blipFill>
        <p:spPr>
          <a:xfrm rot="5400000" flipV="1">
            <a:off x="2675449" y="4177185"/>
            <a:ext cx="3318936" cy="78425"/>
          </a:xfrm>
          <a:prstGeom prst="rect">
            <a:avLst/>
          </a:prstGeom>
        </p:spPr>
      </p:pic>
      <p:sp>
        <p:nvSpPr>
          <p:cNvPr id="6" name="Content Placeholder 2"/>
          <p:cNvSpPr txBox="1">
            <a:spLocks/>
          </p:cNvSpPr>
          <p:nvPr/>
        </p:nvSpPr>
        <p:spPr>
          <a:xfrm>
            <a:off x="4404173" y="2556929"/>
            <a:ext cx="3627581" cy="3318936"/>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lgn="ctr">
              <a:buFont typeface="Arial"/>
              <a:buNone/>
            </a:pPr>
            <a:r>
              <a:rPr lang="en-US" b="1" u="sng" dirty="0" smtClean="0"/>
              <a:t>Database</a:t>
            </a:r>
          </a:p>
          <a:p>
            <a:pPr marL="0" indent="0" algn="ctr">
              <a:buFont typeface="Arial"/>
              <a:buNone/>
            </a:pPr>
            <a:endParaRPr lang="en-US" b="1" u="sng" dirty="0"/>
          </a:p>
          <a:p>
            <a:pPr marL="0" indent="0" algn="ctr">
              <a:buFont typeface="Arial"/>
              <a:buNone/>
            </a:pPr>
            <a:endParaRPr lang="en-US" b="1" u="sng" dirty="0" smtClean="0"/>
          </a:p>
          <a:p>
            <a:pPr marL="0" indent="0" algn="ctr">
              <a:buFont typeface="Arial"/>
              <a:buNone/>
            </a:pPr>
            <a:endParaRPr lang="en-US" b="1" u="sng" dirty="0" smtClean="0"/>
          </a:p>
          <a:p>
            <a:pPr marL="0" indent="0" algn="ctr">
              <a:buNone/>
            </a:pPr>
            <a:r>
              <a:rPr lang="en-US" dirty="0" smtClean="0"/>
              <a:t>MySQL for data storage and management.</a:t>
            </a:r>
            <a:endParaRPr lang="en-US" b="1" u="sng" dirty="0"/>
          </a:p>
        </p:txBody>
      </p:sp>
      <p:pic>
        <p:nvPicPr>
          <p:cNvPr id="7" name="Picture 6"/>
          <p:cNvPicPr>
            <a:picLocks noChangeAspect="1"/>
          </p:cNvPicPr>
          <p:nvPr/>
        </p:nvPicPr>
        <p:blipFill>
          <a:blip r:embed="rId2"/>
          <a:stretch>
            <a:fillRect/>
          </a:stretch>
        </p:blipFill>
        <p:spPr>
          <a:xfrm rot="5400000" flipV="1">
            <a:off x="6411499" y="4177185"/>
            <a:ext cx="3318936" cy="78425"/>
          </a:xfrm>
          <a:prstGeom prst="rect">
            <a:avLst/>
          </a:prstGeom>
        </p:spPr>
      </p:pic>
      <p:sp>
        <p:nvSpPr>
          <p:cNvPr id="8" name="Content Placeholder 2"/>
          <p:cNvSpPr txBox="1">
            <a:spLocks/>
          </p:cNvSpPr>
          <p:nvPr/>
        </p:nvSpPr>
        <p:spPr>
          <a:xfrm>
            <a:off x="8825393" y="2556929"/>
            <a:ext cx="1521765" cy="803621"/>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lgn="ctr">
              <a:buFont typeface="Arial"/>
              <a:buNone/>
            </a:pPr>
            <a:r>
              <a:rPr lang="en-US" b="1" u="sng" dirty="0" smtClean="0"/>
              <a:t>Frontend</a:t>
            </a:r>
          </a:p>
          <a:p>
            <a:pPr marL="0" indent="0" algn="ctr">
              <a:buFont typeface="Arial"/>
              <a:buNone/>
            </a:pPr>
            <a:endParaRPr lang="en-US" b="1" u="sng" dirty="0" smtClean="0"/>
          </a:p>
          <a:p>
            <a:pPr marL="0" indent="0" algn="ctr">
              <a:buNone/>
            </a:pPr>
            <a:endParaRPr lang="en-US" b="1" u="sng"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3854" y="3040641"/>
            <a:ext cx="1438182" cy="782308"/>
          </a:xfrm>
          <a:prstGeom prst="rect">
            <a:avLst/>
          </a:prstGeom>
        </p:spPr>
      </p:pic>
      <p:pic>
        <p:nvPicPr>
          <p:cNvPr id="2052" name="Picture 4" descr="MySQL Logo PNG Transparent (1) – Brands Logos"/>
          <p:cNvPicPr>
            <a:picLocks noChangeAspect="1" noChangeArrowheads="1"/>
          </p:cNvPicPr>
          <p:nvPr/>
        </p:nvPicPr>
        <p:blipFill rotWithShape="1">
          <a:blip r:embed="rId4">
            <a:extLst>
              <a:ext uri="{28A0092B-C50C-407E-A947-70E740481C1C}">
                <a14:useLocalDpi xmlns:a14="http://schemas.microsoft.com/office/drawing/2010/main" val="0"/>
              </a:ext>
            </a:extLst>
          </a:blip>
          <a:srcRect l="898" t="15726" r="-898" b="29906"/>
          <a:stretch/>
        </p:blipFill>
        <p:spPr bwMode="auto">
          <a:xfrm>
            <a:off x="5173416" y="3072710"/>
            <a:ext cx="2143125" cy="1164657"/>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Work on html, css, javascript website by Stalha97 | Fiver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6291" r="17688"/>
          <a:stretch/>
        </p:blipFill>
        <p:spPr bwMode="auto">
          <a:xfrm>
            <a:off x="8638515" y="3360550"/>
            <a:ext cx="2161829" cy="2202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79282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884737" y="2038314"/>
            <a:ext cx="10032644" cy="495369"/>
          </a:xfrm>
          <a:prstGeom prst="rect">
            <a:avLst/>
          </a:prstGeom>
        </p:spPr>
      </p:pic>
      <p:sp>
        <p:nvSpPr>
          <p:cNvPr id="2" name="Title 1"/>
          <p:cNvSpPr>
            <a:spLocks noGrp="1"/>
          </p:cNvSpPr>
          <p:nvPr>
            <p:ph type="title"/>
          </p:nvPr>
        </p:nvSpPr>
        <p:spPr>
          <a:xfrm>
            <a:off x="658093" y="2728574"/>
            <a:ext cx="4246416" cy="1303867"/>
          </a:xfrm>
        </p:spPr>
        <p:txBody>
          <a:bodyPr/>
          <a:lstStyle/>
          <a:p>
            <a:r>
              <a:rPr lang="en-US" dirty="0" smtClean="0"/>
              <a:t>Flowchart</a:t>
            </a:r>
            <a:endParaRPr lang="en-US" dirty="0"/>
          </a:p>
        </p:txBody>
      </p:sp>
      <p:pic>
        <p:nvPicPr>
          <p:cNvPr id="4" name="Content Placeholder 3"/>
          <p:cNvPicPr>
            <a:picLocks noGrp="1"/>
          </p:cNvPicPr>
          <p:nvPr>
            <p:ph idx="1"/>
          </p:nvPr>
        </p:nvPicPr>
        <p:blipFill>
          <a:blip r:embed="rId3"/>
          <a:stretch>
            <a:fillRect/>
          </a:stretch>
        </p:blipFill>
        <p:spPr>
          <a:xfrm>
            <a:off x="5541819" y="711200"/>
            <a:ext cx="5153894" cy="5338617"/>
          </a:xfrm>
          <a:prstGeom prst="rect">
            <a:avLst/>
          </a:prstGeom>
        </p:spPr>
      </p:pic>
    </p:spTree>
    <p:extLst>
      <p:ext uri="{BB962C8B-B14F-4D97-AF65-F5344CB8AC3E}">
        <p14:creationId xmlns:p14="http://schemas.microsoft.com/office/powerpoint/2010/main" val="46244338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Working</a:t>
            </a:r>
            <a:endParaRPr lang="en-US" dirty="0"/>
          </a:p>
        </p:txBody>
      </p:sp>
      <p:sp>
        <p:nvSpPr>
          <p:cNvPr id="3" name="Content Placeholder 2"/>
          <p:cNvSpPr>
            <a:spLocks noGrp="1"/>
          </p:cNvSpPr>
          <p:nvPr>
            <p:ph idx="1"/>
          </p:nvPr>
        </p:nvSpPr>
        <p:spPr>
          <a:xfrm>
            <a:off x="1295402" y="2669308"/>
            <a:ext cx="2473035" cy="1229977"/>
          </a:xfrm>
        </p:spPr>
        <p:txBody>
          <a:bodyPr>
            <a:normAutofit lnSpcReduction="10000"/>
          </a:bodyPr>
          <a:lstStyle/>
          <a:p>
            <a:r>
              <a:rPr lang="en-US" dirty="0" smtClean="0"/>
              <a:t>Authentication with role based access</a:t>
            </a:r>
          </a:p>
          <a:p>
            <a:endParaRPr lang="en-US" dirty="0"/>
          </a:p>
        </p:txBody>
      </p:sp>
      <p:pic>
        <p:nvPicPr>
          <p:cNvPr id="4" name="Picture 3"/>
          <p:cNvPicPr/>
          <p:nvPr/>
        </p:nvPicPr>
        <p:blipFill>
          <a:blip r:embed="rId2"/>
          <a:stretch>
            <a:fillRect/>
          </a:stretch>
        </p:blipFill>
        <p:spPr>
          <a:xfrm>
            <a:off x="3768437" y="2512291"/>
            <a:ext cx="6631708" cy="3197321"/>
          </a:xfrm>
          <a:prstGeom prst="rect">
            <a:avLst/>
          </a:prstGeom>
        </p:spPr>
      </p:pic>
    </p:spTree>
    <p:extLst>
      <p:ext uri="{BB962C8B-B14F-4D97-AF65-F5344CB8AC3E}">
        <p14:creationId xmlns:p14="http://schemas.microsoft.com/office/powerpoint/2010/main" val="189801041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Working</a:t>
            </a:r>
            <a:endParaRPr lang="en-US" dirty="0"/>
          </a:p>
        </p:txBody>
      </p:sp>
      <p:sp>
        <p:nvSpPr>
          <p:cNvPr id="3" name="Content Placeholder 2"/>
          <p:cNvSpPr>
            <a:spLocks noGrp="1"/>
          </p:cNvSpPr>
          <p:nvPr>
            <p:ph idx="1"/>
          </p:nvPr>
        </p:nvSpPr>
        <p:spPr>
          <a:xfrm>
            <a:off x="999838" y="2632363"/>
            <a:ext cx="2473035" cy="1229977"/>
          </a:xfrm>
        </p:spPr>
        <p:txBody>
          <a:bodyPr>
            <a:normAutofit fontScale="92500" lnSpcReduction="20000"/>
          </a:bodyPr>
          <a:lstStyle/>
          <a:p>
            <a:r>
              <a:rPr lang="en-US" dirty="0"/>
              <a:t>Sales Transactions: Quick entry and receipt printing.</a:t>
            </a:r>
          </a:p>
        </p:txBody>
      </p:sp>
      <p:pic>
        <p:nvPicPr>
          <p:cNvPr id="6" name="Picture 5"/>
          <p:cNvPicPr/>
          <p:nvPr/>
        </p:nvPicPr>
        <p:blipFill>
          <a:blip r:embed="rId2"/>
          <a:stretch>
            <a:fillRect/>
          </a:stretch>
        </p:blipFill>
        <p:spPr>
          <a:xfrm>
            <a:off x="3953770" y="2632362"/>
            <a:ext cx="7009794" cy="3417455"/>
          </a:xfrm>
          <a:prstGeom prst="rect">
            <a:avLst/>
          </a:prstGeom>
        </p:spPr>
      </p:pic>
    </p:spTree>
    <p:extLst>
      <p:ext uri="{BB962C8B-B14F-4D97-AF65-F5344CB8AC3E}">
        <p14:creationId xmlns:p14="http://schemas.microsoft.com/office/powerpoint/2010/main" val="21348284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0675" y="1158489"/>
            <a:ext cx="9601196" cy="1303867"/>
          </a:xfrm>
        </p:spPr>
        <p:txBody>
          <a:bodyPr/>
          <a:lstStyle/>
          <a:p>
            <a:r>
              <a:rPr lang="en-US" dirty="0" smtClean="0"/>
              <a:t>System Working</a:t>
            </a:r>
            <a:endParaRPr lang="en-US" dirty="0"/>
          </a:p>
        </p:txBody>
      </p:sp>
      <p:sp>
        <p:nvSpPr>
          <p:cNvPr id="3" name="Content Placeholder 2"/>
          <p:cNvSpPr>
            <a:spLocks noGrp="1"/>
          </p:cNvSpPr>
          <p:nvPr>
            <p:ph idx="1"/>
          </p:nvPr>
        </p:nvSpPr>
        <p:spPr>
          <a:xfrm>
            <a:off x="999838" y="2632363"/>
            <a:ext cx="2473035" cy="1229977"/>
          </a:xfrm>
        </p:spPr>
        <p:txBody>
          <a:bodyPr>
            <a:normAutofit/>
          </a:bodyPr>
          <a:lstStyle/>
          <a:p>
            <a:r>
              <a:rPr lang="en-US" dirty="0" smtClean="0"/>
              <a:t>Reporting: Daily sales insights</a:t>
            </a:r>
            <a:endParaRPr lang="en-US" dirty="0"/>
          </a:p>
        </p:txBody>
      </p:sp>
      <p:pic>
        <p:nvPicPr>
          <p:cNvPr id="6" name="Picture 5"/>
          <p:cNvPicPr/>
          <p:nvPr/>
        </p:nvPicPr>
        <p:blipFill>
          <a:blip r:embed="rId2"/>
          <a:stretch>
            <a:fillRect/>
          </a:stretch>
        </p:blipFill>
        <p:spPr>
          <a:xfrm>
            <a:off x="3815223" y="2605039"/>
            <a:ext cx="7037504" cy="3370887"/>
          </a:xfrm>
          <a:prstGeom prst="rect">
            <a:avLst/>
          </a:prstGeom>
        </p:spPr>
      </p:pic>
    </p:spTree>
    <p:extLst>
      <p:ext uri="{BB962C8B-B14F-4D97-AF65-F5344CB8AC3E}">
        <p14:creationId xmlns:p14="http://schemas.microsoft.com/office/powerpoint/2010/main" val="428926161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sp>
        <p:nvSpPr>
          <p:cNvPr id="3" name="Content Placeholder 2"/>
          <p:cNvSpPr>
            <a:spLocks noGrp="1"/>
          </p:cNvSpPr>
          <p:nvPr>
            <p:ph idx="1"/>
          </p:nvPr>
        </p:nvSpPr>
        <p:spPr/>
        <p:txBody>
          <a:bodyPr/>
          <a:lstStyle/>
          <a:p>
            <a:r>
              <a:rPr lang="en-US" dirty="0"/>
              <a:t>The </a:t>
            </a:r>
            <a:r>
              <a:rPr lang="en-US" b="1" dirty="0"/>
              <a:t>Cafe 21CS Cashiering System</a:t>
            </a:r>
            <a:r>
              <a:rPr lang="en-US" dirty="0"/>
              <a:t> is a practical solution designed to help coffee shops manage their daily sales efficiently. Using PHP and MySQL, this system simplifies tasks like tracking sales and managing inventory, making it easier for staff to focus on customer service</a:t>
            </a:r>
            <a:r>
              <a:rPr lang="en-US" dirty="0" smtClean="0"/>
              <a:t>.</a:t>
            </a:r>
            <a:endParaRPr lang="en-US" dirty="0"/>
          </a:p>
        </p:txBody>
      </p:sp>
    </p:spTree>
    <p:extLst>
      <p:ext uri="{BB962C8B-B14F-4D97-AF65-F5344CB8AC3E}">
        <p14:creationId xmlns:p14="http://schemas.microsoft.com/office/powerpoint/2010/main" val="251145668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64508" y="2881746"/>
            <a:ext cx="7601527" cy="923330"/>
          </a:xfrm>
          <a:prstGeom prst="rect">
            <a:avLst/>
          </a:prstGeom>
          <a:noFill/>
        </p:spPr>
        <p:txBody>
          <a:bodyPr wrap="square" rtlCol="0">
            <a:spAutoFit/>
          </a:bodyPr>
          <a:lstStyle/>
          <a:p>
            <a:r>
              <a:rPr lang="en-US" sz="5400" dirty="0" smtClean="0"/>
              <a:t>Lets Now Run this </a:t>
            </a:r>
            <a:r>
              <a:rPr lang="en-US" sz="5400" dirty="0"/>
              <a:t>W</a:t>
            </a:r>
            <a:r>
              <a:rPr lang="en-US" sz="5400" dirty="0" smtClean="0"/>
              <a:t>ebsite</a:t>
            </a:r>
            <a:endParaRPr lang="en-US" sz="5400" dirty="0"/>
          </a:p>
        </p:txBody>
      </p:sp>
    </p:spTree>
    <p:extLst>
      <p:ext uri="{BB962C8B-B14F-4D97-AF65-F5344CB8AC3E}">
        <p14:creationId xmlns:p14="http://schemas.microsoft.com/office/powerpoint/2010/main" val="84344483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TM02900743[[fn=Organic]]</Template>
  <TotalTime>84</TotalTime>
  <Words>174</Words>
  <Application>Microsoft Office PowerPoint</Application>
  <PresentationFormat>Widescreen</PresentationFormat>
  <Paragraphs>50</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Garamond</vt:lpstr>
      <vt:lpstr>Organic</vt:lpstr>
      <vt:lpstr>Café 21CS Cashiering System </vt:lpstr>
      <vt:lpstr>Introduction</vt:lpstr>
      <vt:lpstr>Problem Statement</vt:lpstr>
      <vt:lpstr>Project Objectives</vt:lpstr>
      <vt:lpstr>Tools &amp; Languages Used</vt:lpstr>
      <vt:lpstr>Flowchart</vt:lpstr>
      <vt:lpstr>System Working</vt:lpstr>
      <vt:lpstr>System Working</vt:lpstr>
      <vt:lpstr>System Working</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Café 21CS Cashiering System</dc:title>
  <dc:creator>dell</dc:creator>
  <cp:lastModifiedBy>dell</cp:lastModifiedBy>
  <cp:revision>8</cp:revision>
  <dcterms:created xsi:type="dcterms:W3CDTF">2024-11-05T06:47:57Z</dcterms:created>
  <dcterms:modified xsi:type="dcterms:W3CDTF">2024-11-05T08:12:47Z</dcterms:modified>
</cp:coreProperties>
</file>